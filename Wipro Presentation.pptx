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60" r:id="rId2"/>
    <p:sldId id="4421" r:id="rId3"/>
    <p:sldId id="4423" r:id="rId4"/>
    <p:sldId id="4424" r:id="rId5"/>
    <p:sldId id="4425" r:id="rId6"/>
    <p:sldId id="4426" r:id="rId7"/>
    <p:sldId id="4427" r:id="rId8"/>
    <p:sldId id="4428" r:id="rId9"/>
    <p:sldId id="4429" r:id="rId10"/>
    <p:sldId id="4430" r:id="rId11"/>
    <p:sldId id="4431" r:id="rId12"/>
    <p:sldId id="4440" r:id="rId13"/>
    <p:sldId id="4432" r:id="rId14"/>
    <p:sldId id="4433" r:id="rId15"/>
    <p:sldId id="4434" r:id="rId16"/>
    <p:sldId id="4435" r:id="rId17"/>
    <p:sldId id="4436" r:id="rId18"/>
    <p:sldId id="4437" r:id="rId19"/>
    <p:sldId id="4438" r:id="rId20"/>
    <p:sldId id="4441" r:id="rId21"/>
    <p:sldId id="4443" r:id="rId22"/>
    <p:sldId id="4442" r:id="rId23"/>
    <p:sldId id="443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874" autoAdjust="0"/>
  </p:normalViewPr>
  <p:slideViewPr>
    <p:cSldViewPr snapToGrid="0">
      <p:cViewPr varScale="1">
        <p:scale>
          <a:sx n="95" d="100"/>
          <a:sy n="95" d="100"/>
        </p:scale>
        <p:origin x="70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25SUB4530_CP_JAVA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7220577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9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&amp; 10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5061410"/>
            <a:ext cx="7618930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Het Raval (58663) &amp; </a:t>
            </a:r>
            <a:r>
              <a:rPr lang="en-US" sz="2400" dirty="0" err="1">
                <a:solidFill>
                  <a:srgbClr val="FFFFFF"/>
                </a:solidFill>
                <a:latin typeface="HK Grotesk" pitchFamily="2" charset="77"/>
              </a:rPr>
              <a:t>Julakanti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Tharun (58671)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7" y="4136906"/>
            <a:ext cx="6780319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Here – Expense Tracker Application 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273075" y="1354573"/>
            <a:ext cx="10215094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Introduction 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Managing daily expenses manually can be difficult and time-consuming. Many users(Personal/Organizational) are unable to track where their money is being spent, which leads to poor financial planning.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 Expense Tracker Application is designed to solve this problem by providing a digital platform where users can record, categorize, and analyze their expenses in an organized way.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 application provides a simple interface and real-time updates so users can easily monitor their spending habits and make better financial decisions.</a:t>
            </a:r>
          </a:p>
        </p:txBody>
      </p:sp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A091C-168D-5FC3-D339-546BE60E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1B56E79C-7608-5079-71EE-E369999E4780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E5BC34F5-B069-9B1F-ACE8-5989A65B4D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FE2F882-249E-B2BB-1E64-972DFD7B6FB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A7E62-E13E-39EF-F2F7-1D6E3BC2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20A7ED-24C7-388E-338D-DE7A3B367DED}"/>
              </a:ext>
            </a:extLst>
          </p:cNvPr>
          <p:cNvSpPr txBox="1"/>
          <p:nvPr/>
        </p:nvSpPr>
        <p:spPr>
          <a:xfrm>
            <a:off x="273075" y="1354573"/>
            <a:ext cx="10215094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Problem Statement 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In daily life, individuals and organizations face challenges such as: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--Difficulty tracking expenses manually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--Lack of visibility into spending habits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--No centralized system for expense management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--Time-consuming calculations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--Limited reporting and filtering options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A digital system is required to simplify expense tracking and provide meaningful insights into spending patterns.</a:t>
            </a:r>
          </a:p>
        </p:txBody>
      </p:sp>
    </p:spTree>
    <p:extLst>
      <p:ext uri="{BB962C8B-B14F-4D97-AF65-F5344CB8AC3E}">
        <p14:creationId xmlns:p14="http://schemas.microsoft.com/office/powerpoint/2010/main" val="31718934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B18B4-C130-3E45-8799-0D7DDF1C7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6344A307-05CF-692C-12A7-08EA1E4157F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6E64066-056B-7C63-FEED-B3E68116F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AC4D4D40-F5CD-C6D5-325F-2BD6BDF01E9B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FAA27-930D-318B-527C-A85FF2DFD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626D46-D3EC-5ADB-4421-C6D0471837AF}"/>
              </a:ext>
            </a:extLst>
          </p:cNvPr>
          <p:cNvSpPr txBox="1"/>
          <p:nvPr/>
        </p:nvSpPr>
        <p:spPr>
          <a:xfrm>
            <a:off x="273075" y="1105287"/>
            <a:ext cx="1021509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Objective :</a:t>
            </a:r>
          </a:p>
          <a:p>
            <a:endParaRPr lang="en-US" sz="2800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  <a:sym typeface="Wingdings" panose="05000000000000000000" pitchFamily="2" charset="2"/>
              </a:rPr>
              <a:t>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Primary Objectives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000" dirty="0">
                <a:solidFill>
                  <a:srgbClr val="0187CC"/>
                </a:solidFill>
                <a:latin typeface="HK Grotesk"/>
              </a:rPr>
              <a:t>--To build a web application that tracks expenses efficiently</a:t>
            </a:r>
          </a:p>
          <a:p>
            <a:r>
              <a:rPr lang="en-US" sz="2000" dirty="0">
                <a:solidFill>
                  <a:srgbClr val="0187CC"/>
                </a:solidFill>
                <a:latin typeface="HK Grotesk"/>
              </a:rPr>
              <a:t>--To provide visibility into user spending habits</a:t>
            </a:r>
          </a:p>
          <a:p>
            <a:r>
              <a:rPr lang="en-US" sz="2000" dirty="0">
                <a:solidFill>
                  <a:srgbClr val="0187CC"/>
                </a:solidFill>
                <a:latin typeface="HK Grotesk"/>
              </a:rPr>
              <a:t>--To help users manage their finances better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  <a:sym typeface="Wingdings" panose="05000000000000000000" pitchFamily="2" charset="2"/>
              </a:rPr>
              <a:t>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Secondary Objectives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000" dirty="0">
                <a:solidFill>
                  <a:srgbClr val="0187CC"/>
                </a:solidFill>
                <a:latin typeface="HK Grotesk"/>
              </a:rPr>
              <a:t>--Categorize expenses</a:t>
            </a:r>
          </a:p>
          <a:p>
            <a:r>
              <a:rPr lang="en-US" sz="2000" dirty="0">
                <a:solidFill>
                  <a:srgbClr val="0187CC"/>
                </a:solidFill>
                <a:latin typeface="HK Grotesk"/>
              </a:rPr>
              <a:t>--Generate summaries and reports</a:t>
            </a:r>
          </a:p>
          <a:p>
            <a:r>
              <a:rPr lang="en-US" sz="2000" dirty="0">
                <a:solidFill>
                  <a:srgbClr val="0187CC"/>
                </a:solidFill>
                <a:latin typeface="HK Grotesk"/>
              </a:rPr>
              <a:t>--Provide filters for analysis</a:t>
            </a:r>
          </a:p>
          <a:p>
            <a:r>
              <a:rPr lang="en-US" sz="2000" dirty="0">
                <a:solidFill>
                  <a:srgbClr val="0187CC"/>
                </a:solidFill>
                <a:latin typeface="HK Grotesk"/>
              </a:rPr>
              <a:t>--Ensure scalability and easy deployment</a:t>
            </a:r>
          </a:p>
        </p:txBody>
      </p:sp>
    </p:spTree>
    <p:extLst>
      <p:ext uri="{BB962C8B-B14F-4D97-AF65-F5344CB8AC3E}">
        <p14:creationId xmlns:p14="http://schemas.microsoft.com/office/powerpoint/2010/main" val="17397984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9B431-E3C0-B491-C8E0-4C2D3C5C8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DF91C489-23B9-1049-44B9-35571832E629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055AFBB-00B4-6FC1-9153-BEBCC3EEBE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E78DA85-8EFA-9397-2ECB-D33025227FA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080BE-64F3-56C6-EA5B-64436A05F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CAD24E-501E-69F7-B8CF-F891EDE7EB58}"/>
              </a:ext>
            </a:extLst>
          </p:cNvPr>
          <p:cNvSpPr txBox="1"/>
          <p:nvPr/>
        </p:nvSpPr>
        <p:spPr>
          <a:xfrm>
            <a:off x="273075" y="1354573"/>
            <a:ext cx="1021509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Key Features 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 system provides the following features: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--Add new expense entries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--Edit or delete expenses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--Categorize expenses (Food, Travel, Utilities, etc.)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--Filter expenses by date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--Filter expenses by category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--View total expenses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--Dashboard summary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--Optional charts for analysis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--Responsive user interface</a:t>
            </a:r>
          </a:p>
        </p:txBody>
      </p:sp>
    </p:spTree>
    <p:extLst>
      <p:ext uri="{BB962C8B-B14F-4D97-AF65-F5344CB8AC3E}">
        <p14:creationId xmlns:p14="http://schemas.microsoft.com/office/powerpoint/2010/main" val="335621944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0A6AC-78AB-D67D-D5E0-E33825593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B749F1C0-4BC9-FFF4-12DE-887EBE5C558B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336C2F7-30B6-8534-7C7B-4D80391480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93D0A06E-6EC5-632C-0D94-62C862E9E86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A2E73-58CC-3D61-4F0C-844B6D9F6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8EAC2-3AA3-9B43-D8CA-8724A7EC8117}"/>
              </a:ext>
            </a:extLst>
          </p:cNvPr>
          <p:cNvSpPr txBox="1"/>
          <p:nvPr/>
        </p:nvSpPr>
        <p:spPr>
          <a:xfrm>
            <a:off x="273075" y="833365"/>
            <a:ext cx="10215094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System Architecture 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The application follows a 3-tier architecture: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u="sng" dirty="0">
                <a:solidFill>
                  <a:srgbClr val="0187CC"/>
                </a:solidFill>
                <a:latin typeface="HK Grotesk"/>
              </a:rPr>
              <a:t>#Presentation Layer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--Angular frontend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--User interface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--Displays expense data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u="sng" dirty="0">
                <a:solidFill>
                  <a:srgbClr val="0187CC"/>
                </a:solidFill>
                <a:latin typeface="HK Grotesk"/>
              </a:rPr>
              <a:t>#Application Layer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--Spring Boot backend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--REST APIs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u="sng" dirty="0">
                <a:solidFill>
                  <a:srgbClr val="0187CC"/>
                </a:solidFill>
                <a:latin typeface="HK Grotesk"/>
              </a:rPr>
              <a:t>#Data Layer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--MySQL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--Stores expenses and categories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005F47-F1E4-3DB9-44C7-0F869AA81875}"/>
              </a:ext>
            </a:extLst>
          </p:cNvPr>
          <p:cNvSpPr txBox="1"/>
          <p:nvPr/>
        </p:nvSpPr>
        <p:spPr>
          <a:xfrm>
            <a:off x="4562856" y="2770632"/>
            <a:ext cx="69037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Flow :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User → Angular UI → REST API → Database → Response → UI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05893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4ADE4-5CF7-B06C-F009-2287FB609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46BAABD5-C549-22A3-8829-85FB491FACC2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B9D9155-CCC0-E98A-80FD-28F09D0DB5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EE71A31-6039-2AD1-3CFA-0F8750DAAB99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DDCB0-96B9-047E-CDAC-6C7ACEACD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D56045-C8C8-F3A5-EAC7-868147A9102F}"/>
              </a:ext>
            </a:extLst>
          </p:cNvPr>
          <p:cNvSpPr txBox="1"/>
          <p:nvPr/>
        </p:nvSpPr>
        <p:spPr>
          <a:xfrm>
            <a:off x="273075" y="1354573"/>
            <a:ext cx="10215094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Technology Stack :</a:t>
            </a: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 </a:t>
            </a:r>
          </a:p>
          <a:p>
            <a:r>
              <a:rPr lang="en-US" u="sng" dirty="0">
                <a:solidFill>
                  <a:srgbClr val="0187CC"/>
                </a:solidFill>
                <a:latin typeface="HK Grotesk"/>
              </a:rPr>
              <a:t>#Frontend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--Angular framework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--TypeScript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--HTML, CSS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--Angular services for API calls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u="sng" dirty="0">
                <a:solidFill>
                  <a:srgbClr val="0187CC"/>
                </a:solidFill>
                <a:latin typeface="HK Grotesk"/>
              </a:rPr>
              <a:t>#Backend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--Spring Boot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--Spring Data JPA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--REST API architecture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--Maven build tool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717E6-A39E-BAF1-AF72-803D2F57C345}"/>
              </a:ext>
            </a:extLst>
          </p:cNvPr>
          <p:cNvSpPr txBox="1"/>
          <p:nvPr/>
        </p:nvSpPr>
        <p:spPr>
          <a:xfrm>
            <a:off x="4914277" y="2223909"/>
            <a:ext cx="739264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solidFill>
                  <a:srgbClr val="0187CC"/>
                </a:solidFill>
              </a:rPr>
              <a:t>#Database</a:t>
            </a:r>
          </a:p>
          <a:p>
            <a:endParaRPr lang="en-IN" dirty="0">
              <a:solidFill>
                <a:srgbClr val="0187CC"/>
              </a:solidFill>
            </a:endParaRPr>
          </a:p>
          <a:p>
            <a:r>
              <a:rPr lang="en-IN" dirty="0">
                <a:solidFill>
                  <a:srgbClr val="0187CC"/>
                </a:solidFill>
              </a:rPr>
              <a:t>--MYSQL</a:t>
            </a:r>
          </a:p>
          <a:p>
            <a:endParaRPr lang="en-IN" dirty="0">
              <a:solidFill>
                <a:srgbClr val="0187CC"/>
              </a:solidFill>
            </a:endParaRPr>
          </a:p>
          <a:p>
            <a:endParaRPr lang="en-IN" dirty="0">
              <a:solidFill>
                <a:srgbClr val="0187CC"/>
              </a:solidFill>
            </a:endParaRPr>
          </a:p>
          <a:p>
            <a:endParaRPr lang="en-IN" dirty="0">
              <a:solidFill>
                <a:srgbClr val="0187CC"/>
              </a:solidFill>
            </a:endParaRPr>
          </a:p>
          <a:p>
            <a:r>
              <a:rPr lang="en-IN" u="sng" dirty="0">
                <a:solidFill>
                  <a:srgbClr val="0187CC"/>
                </a:solidFill>
              </a:rPr>
              <a:t>#DevOps</a:t>
            </a:r>
          </a:p>
          <a:p>
            <a:endParaRPr lang="en-IN" dirty="0">
              <a:solidFill>
                <a:srgbClr val="0187CC"/>
              </a:solidFill>
            </a:endParaRPr>
          </a:p>
          <a:p>
            <a:r>
              <a:rPr lang="en-IN" dirty="0">
                <a:solidFill>
                  <a:srgbClr val="0187CC"/>
                </a:solidFill>
              </a:rPr>
              <a:t>--Docker for containerization</a:t>
            </a:r>
          </a:p>
          <a:p>
            <a:r>
              <a:rPr lang="en-IN" dirty="0">
                <a:solidFill>
                  <a:srgbClr val="0187CC"/>
                </a:solidFill>
              </a:rPr>
              <a:t>--Azure App Service for hosting</a:t>
            </a:r>
          </a:p>
        </p:txBody>
      </p:sp>
    </p:spTree>
    <p:extLst>
      <p:ext uri="{BB962C8B-B14F-4D97-AF65-F5344CB8AC3E}">
        <p14:creationId xmlns:p14="http://schemas.microsoft.com/office/powerpoint/2010/main" val="16645678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19559-DB4C-CA6D-4905-72117E190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43DE16B0-C7E6-E527-797B-D2D085A2A4F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A827428F-E01C-2CAA-05D2-3C3E376E9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F764433-E0FC-8896-2E62-B4F3033FC8B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96954-6EAC-168D-D0D1-4F741628A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314A21-333E-382A-23AF-A5F34BA1D0DC}"/>
              </a:ext>
            </a:extLst>
          </p:cNvPr>
          <p:cNvSpPr txBox="1"/>
          <p:nvPr/>
        </p:nvSpPr>
        <p:spPr>
          <a:xfrm>
            <a:off x="431513" y="1051435"/>
            <a:ext cx="10215094" cy="54784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Function Module 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u="sng" dirty="0">
                <a:solidFill>
                  <a:srgbClr val="0187CC"/>
                </a:solidFill>
                <a:latin typeface="HK Grotesk"/>
              </a:rPr>
              <a:t>1. Expense Module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--Add expense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--Update expense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--Delete expense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--View expense list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u="sng" dirty="0">
                <a:solidFill>
                  <a:srgbClr val="0187CC"/>
                </a:solidFill>
                <a:latin typeface="HK Grotesk"/>
              </a:rPr>
              <a:t>2. Category Module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--Create category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--Assign category to expense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--Manage categories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C1CF04-AE32-EBC7-FF07-FFAB78A78E85}"/>
              </a:ext>
            </a:extLst>
          </p:cNvPr>
          <p:cNvSpPr txBox="1"/>
          <p:nvPr/>
        </p:nvSpPr>
        <p:spPr>
          <a:xfrm>
            <a:off x="6843680" y="2055621"/>
            <a:ext cx="3840480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u="sng" dirty="0">
                <a:solidFill>
                  <a:srgbClr val="0187CC"/>
                </a:solidFill>
                <a:latin typeface="HK Grotesk"/>
              </a:rPr>
              <a:t>3. Reporting Module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--Total expenses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--Filter by date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--Filter by category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--Monthly summary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54621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21EE9-0C6D-C8E9-1903-7779827D3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7AD77AD-3BDE-6EF1-31C1-EEFB238AE1B1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5A89395-3352-23F0-A366-1F7E995036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445C0ED-9FBA-C61B-EC4B-66118185217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2FB44-8836-77C3-655E-60745FEA3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41E2B-34F1-7ADF-9ECB-65428E2ACC2D}"/>
              </a:ext>
            </a:extLst>
          </p:cNvPr>
          <p:cNvSpPr txBox="1"/>
          <p:nvPr/>
        </p:nvSpPr>
        <p:spPr>
          <a:xfrm>
            <a:off x="273075" y="1354573"/>
            <a:ext cx="610943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u="sng" dirty="0">
                <a:solidFill>
                  <a:srgbClr val="0187CC"/>
                </a:solidFill>
                <a:latin typeface="HK Grotesk"/>
              </a:rPr>
              <a:t>User Interface</a:t>
            </a:r>
            <a:r>
              <a:rPr lang="en-US" sz="2800" dirty="0">
                <a:solidFill>
                  <a:srgbClr val="0187CC"/>
                </a:solidFill>
                <a:latin typeface="HK Grotesk"/>
              </a:rPr>
              <a:t>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 Angular frontend provides: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--Dashboard page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--Add expense form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--Expense list view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--Filter options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--Summary section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--Optional charts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 UI updates in real time when 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expenses are added or deleted.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FDEB6-AA57-87FC-1F3D-166464ABC4FD}"/>
              </a:ext>
            </a:extLst>
          </p:cNvPr>
          <p:cNvSpPr txBox="1"/>
          <p:nvPr/>
        </p:nvSpPr>
        <p:spPr>
          <a:xfrm>
            <a:off x="7132320" y="1300579"/>
            <a:ext cx="4718304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u="sng" dirty="0">
                <a:solidFill>
                  <a:srgbClr val="0187CC"/>
                </a:solidFill>
                <a:latin typeface="HK Grotesk"/>
              </a:rPr>
              <a:t>Application Workflow</a:t>
            </a:r>
            <a:r>
              <a:rPr lang="en-US" sz="2800" dirty="0">
                <a:solidFill>
                  <a:srgbClr val="0187CC"/>
                </a:solidFill>
                <a:latin typeface="HK Grotesk"/>
              </a:rPr>
              <a:t>: 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User opens application: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1. User adds expense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2. User selects category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3. Data sent to backend API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4. Backend stores data in database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5. Dashboard updates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6. User views reports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This ensures smooth and real-time expense tracking.</a:t>
            </a:r>
          </a:p>
        </p:txBody>
      </p:sp>
    </p:spTree>
    <p:extLst>
      <p:ext uri="{BB962C8B-B14F-4D97-AF65-F5344CB8AC3E}">
        <p14:creationId xmlns:p14="http://schemas.microsoft.com/office/powerpoint/2010/main" val="42896244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39BEB-46E2-3A47-D432-832CB4270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217F1C0-B65D-7DA3-6109-D1EA154FFE1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4FDCA76D-172C-BBD6-4C5A-C1983EF68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D2DA84B-2E7C-C4F8-0225-232350D35A1F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928BF-626A-8FB9-2751-56F873A15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EDA94C-2EA1-68F7-3C5E-833EA575C4A7}"/>
              </a:ext>
            </a:extLst>
          </p:cNvPr>
          <p:cNvSpPr txBox="1"/>
          <p:nvPr/>
        </p:nvSpPr>
        <p:spPr>
          <a:xfrm>
            <a:off x="273075" y="1354573"/>
            <a:ext cx="1021509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DevOps &amp; Deployment 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  <a:sym typeface="Wingdings" panose="05000000000000000000" pitchFamily="2" charset="2"/>
              </a:rPr>
              <a:t>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Docker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--Containerizes frontend and backend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--Ensures consistent environment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  <a:sym typeface="Wingdings" panose="05000000000000000000" pitchFamily="2" charset="2"/>
              </a:rPr>
              <a:t>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Azure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--Hosts backend APIs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--Hosts frontend application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--Supports scalability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87D61-E83D-D800-7B73-C32639648509}"/>
              </a:ext>
            </a:extLst>
          </p:cNvPr>
          <p:cNvSpPr txBox="1"/>
          <p:nvPr/>
        </p:nvSpPr>
        <p:spPr>
          <a:xfrm>
            <a:off x="7080565" y="2244060"/>
            <a:ext cx="4273235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rgbClr val="0187CC"/>
                </a:solidFill>
                <a:latin typeface="HK Grotesk"/>
                <a:sym typeface="Wingdings" panose="05000000000000000000" pitchFamily="2" charset="2"/>
              </a:rPr>
              <a:t></a:t>
            </a:r>
            <a:r>
              <a:rPr lang="en-US" sz="2200" u="sng" dirty="0">
                <a:solidFill>
                  <a:srgbClr val="0187CC"/>
                </a:solidFill>
                <a:latin typeface="HK Grotesk"/>
              </a:rPr>
              <a:t>Benefits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--Easy deployment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--Cloud hosting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--High availability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14203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1D041-A6CF-59BE-694E-DDBD11058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4EFAA31A-3B8E-6857-8A1C-0C1D01D820D1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1CCCBFA-4DDE-0370-2D88-8D3E36D3D4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E56F6A9-9BDB-AAC3-8A8F-7113FC54359B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BBF14-C5F4-3150-0A04-82EFD02BC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E13BA2-C8CF-08D0-9740-63779D5CB465}"/>
              </a:ext>
            </a:extLst>
          </p:cNvPr>
          <p:cNvSpPr txBox="1"/>
          <p:nvPr/>
        </p:nvSpPr>
        <p:spPr>
          <a:xfrm>
            <a:off x="273075" y="1354573"/>
            <a:ext cx="1021509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Advantages &amp; Limitations 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u="sng" dirty="0">
                <a:solidFill>
                  <a:srgbClr val="0187CC"/>
                </a:solidFill>
                <a:latin typeface="HK Grotesk"/>
              </a:rPr>
              <a:t>Advantages : 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--Easy to use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--Saves time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--Organized expense tracking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--Real-time updates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--Scalable architecture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--Cloud deployment ready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5BDECF-DA5C-267A-B43B-B230A3F04773}"/>
              </a:ext>
            </a:extLst>
          </p:cNvPr>
          <p:cNvSpPr txBox="1"/>
          <p:nvPr/>
        </p:nvSpPr>
        <p:spPr>
          <a:xfrm>
            <a:off x="6096000" y="2580238"/>
            <a:ext cx="4636129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u="sng" dirty="0">
                <a:solidFill>
                  <a:srgbClr val="0187CC"/>
                </a:solidFill>
              </a:rPr>
              <a:t>Limitations :</a:t>
            </a:r>
          </a:p>
          <a:p>
            <a:endParaRPr lang="en-IN" sz="2200" dirty="0">
              <a:solidFill>
                <a:srgbClr val="0187CC"/>
              </a:solidFill>
            </a:endParaRPr>
          </a:p>
          <a:p>
            <a:r>
              <a:rPr lang="en-US" sz="2000" dirty="0">
                <a:solidFill>
                  <a:srgbClr val="0187CC"/>
                </a:solidFill>
              </a:rPr>
              <a:t>--No authentication (initial version)</a:t>
            </a:r>
          </a:p>
          <a:p>
            <a:r>
              <a:rPr lang="en-US" sz="2000" dirty="0">
                <a:solidFill>
                  <a:srgbClr val="0187CC"/>
                </a:solidFill>
              </a:rPr>
              <a:t>--Single user system</a:t>
            </a:r>
          </a:p>
          <a:p>
            <a:r>
              <a:rPr lang="en-US" sz="2000" dirty="0">
                <a:solidFill>
                  <a:srgbClr val="0187CC"/>
                </a:solidFill>
              </a:rPr>
              <a:t>--Basic reports only</a:t>
            </a:r>
          </a:p>
          <a:p>
            <a:endParaRPr lang="en-US" sz="2000" dirty="0">
              <a:solidFill>
                <a:srgbClr val="0187CC"/>
              </a:solidFill>
            </a:endParaRPr>
          </a:p>
          <a:p>
            <a:r>
              <a:rPr lang="en-US" sz="2000" dirty="0">
                <a:solidFill>
                  <a:srgbClr val="0187CC"/>
                </a:solidFill>
              </a:rPr>
              <a:t>These limitations can be improved in future versions.</a:t>
            </a:r>
            <a:endParaRPr lang="en-IN" sz="2000" dirty="0">
              <a:solidFill>
                <a:srgbClr val="0187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15559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D449E-5483-FC8C-FC57-70ADED7BB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E2C1AAFD-D878-C071-9839-BD294296FA35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D78AEA-6940-67DE-97CD-2155A4B600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0DBBAE9-13B6-9340-315A-8CEFA2B221DE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57CD9-94F7-DB2C-EF43-0F96A1DE9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6C207D-3352-0A2D-E80E-D4AC1240E6EB}"/>
              </a:ext>
            </a:extLst>
          </p:cNvPr>
          <p:cNvSpPr txBox="1"/>
          <p:nvPr/>
        </p:nvSpPr>
        <p:spPr>
          <a:xfrm>
            <a:off x="273075" y="992435"/>
            <a:ext cx="10215094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API Endpoints :</a:t>
            </a:r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u="sng" dirty="0">
                <a:solidFill>
                  <a:srgbClr val="0187CC"/>
                </a:solidFill>
                <a:latin typeface="HK Grotesk"/>
              </a:rPr>
              <a:t>Authentication APIs--</a:t>
            </a:r>
          </a:p>
          <a:p>
            <a:endParaRPr lang="en-US" sz="2200" u="sng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POST 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api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/auth/login – User login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POST 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api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/auth/register – User registration</a:t>
            </a:r>
          </a:p>
          <a:p>
            <a:endParaRPr lang="en-US" sz="2200" u="sng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u="sng" dirty="0">
                <a:solidFill>
                  <a:srgbClr val="0187CC"/>
                </a:solidFill>
                <a:latin typeface="HK Grotesk"/>
              </a:rPr>
              <a:t>Expense APIs --</a:t>
            </a:r>
          </a:p>
          <a:p>
            <a:endParaRPr lang="en-US" sz="2200" u="sng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POST 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api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/expenses – Add new expense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GET 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api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expenses?userId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= – Get expenses by user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GET 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api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/expenses/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total?userId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=&amp;type= – Get total expense (optional type)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GET 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api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/expenses/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by-category?userId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=&amp;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categoryId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= – Expenses by category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GET 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api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/expenses/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by-date?userId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=&amp;from=&amp;to= – Expenses by date range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DELETE /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api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/expenses/{</a:t>
            </a:r>
            <a:r>
              <a:rPr lang="en-US" sz="2200" dirty="0" err="1">
                <a:solidFill>
                  <a:srgbClr val="0187CC"/>
                </a:solidFill>
                <a:latin typeface="HK Grotesk"/>
              </a:rPr>
              <a:t>expenseId</a:t>
            </a:r>
            <a:r>
              <a:rPr lang="en-US" sz="2200" dirty="0">
                <a:solidFill>
                  <a:srgbClr val="0187CC"/>
                </a:solidFill>
                <a:latin typeface="HK Grotesk"/>
              </a:rPr>
              <a:t>} – Delete expense</a:t>
            </a:r>
          </a:p>
        </p:txBody>
      </p:sp>
    </p:spTree>
    <p:extLst>
      <p:ext uri="{BB962C8B-B14F-4D97-AF65-F5344CB8AC3E}">
        <p14:creationId xmlns:p14="http://schemas.microsoft.com/office/powerpoint/2010/main" val="30455535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02E58-5C6F-C51E-E399-16669C3D7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400262B-EBF5-D581-BF7C-B58B76CB5507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8CC0F6A-3776-6AB5-9E3E-DB1E9E207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D2B7F1A-DB2F-F0EB-2240-FD47A149D1D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8A739-96D4-0B62-CDD2-EA3EF5DAE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11A6A0-62DE-6A03-2300-8F605DB3CF8D}"/>
              </a:ext>
            </a:extLst>
          </p:cNvPr>
          <p:cNvSpPr txBox="1"/>
          <p:nvPr/>
        </p:nvSpPr>
        <p:spPr>
          <a:xfrm>
            <a:off x="190852" y="929060"/>
            <a:ext cx="118102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Sample Output with Validations :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63D0DB-EF38-4AA5-866D-5B2D19986F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125" y="2058207"/>
            <a:ext cx="8826515" cy="43084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5931EF-6825-8723-6FE4-5A3E88874C7C}"/>
              </a:ext>
            </a:extLst>
          </p:cNvPr>
          <p:cNvSpPr txBox="1"/>
          <p:nvPr/>
        </p:nvSpPr>
        <p:spPr>
          <a:xfrm>
            <a:off x="5333166" y="1626644"/>
            <a:ext cx="1258431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Login Page</a:t>
            </a:r>
          </a:p>
        </p:txBody>
      </p:sp>
    </p:spTree>
    <p:extLst>
      <p:ext uri="{BB962C8B-B14F-4D97-AF65-F5344CB8AC3E}">
        <p14:creationId xmlns:p14="http://schemas.microsoft.com/office/powerpoint/2010/main" val="34588207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5A364-BA1E-6B22-D2F3-95EF8288C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95476F-6F6F-C77E-CC2B-EFD2BC7F6CEE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1D614C5-364B-C349-17EE-F0C013C77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C50BB0D-E2D7-669C-C15E-3A77D2FED8C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3F03F-633E-CEEB-4410-6097DCF4F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14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1E6DDC-C124-BED1-00A5-49F5ADF5E5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9093" y="1535126"/>
            <a:ext cx="9553814" cy="47589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86F7FA-3D57-4F4D-C58D-B54A37D9F4F5}"/>
              </a:ext>
            </a:extLst>
          </p:cNvPr>
          <p:cNvSpPr txBox="1"/>
          <p:nvPr/>
        </p:nvSpPr>
        <p:spPr>
          <a:xfrm>
            <a:off x="5340724" y="1048144"/>
            <a:ext cx="1510552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Register Page</a:t>
            </a:r>
          </a:p>
        </p:txBody>
      </p:sp>
    </p:spTree>
    <p:extLst>
      <p:ext uri="{BB962C8B-B14F-4D97-AF65-F5344CB8AC3E}">
        <p14:creationId xmlns:p14="http://schemas.microsoft.com/office/powerpoint/2010/main" val="4919124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FBA19-2784-F8BF-7BDE-4529A0DF0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D4F1D0F-80DB-2317-4DDF-5659D4D919E2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78779811-0342-9A95-5121-457B12C099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68C9E12-A36B-8502-2EDB-69F0DBBD081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3FD2C4-B4C8-965E-08DB-F7387763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15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928C24-D8F0-271C-439B-158A3CD2EF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521" y="1581350"/>
            <a:ext cx="5641531" cy="46735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2E651D-3959-CF26-3297-5CFD33CD91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075" y="1581350"/>
            <a:ext cx="5347107" cy="46735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E7E9837-F1BE-00CD-E09E-EFF8BC43BF03}"/>
              </a:ext>
            </a:extLst>
          </p:cNvPr>
          <p:cNvSpPr txBox="1"/>
          <p:nvPr/>
        </p:nvSpPr>
        <p:spPr>
          <a:xfrm>
            <a:off x="2065608" y="1092217"/>
            <a:ext cx="1762040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Login Validation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C6F8FE-15EF-9D2E-52F6-7D77E09919D1}"/>
              </a:ext>
            </a:extLst>
          </p:cNvPr>
          <p:cNvSpPr txBox="1"/>
          <p:nvPr/>
        </p:nvSpPr>
        <p:spPr>
          <a:xfrm>
            <a:off x="8033210" y="1092217"/>
            <a:ext cx="2042152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Register Validation</a:t>
            </a:r>
          </a:p>
        </p:txBody>
      </p:sp>
    </p:spTree>
    <p:extLst>
      <p:ext uri="{BB962C8B-B14F-4D97-AF65-F5344CB8AC3E}">
        <p14:creationId xmlns:p14="http://schemas.microsoft.com/office/powerpoint/2010/main" val="1652751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8D66C-8B7F-E221-9CEF-6572B6F14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EFDFC301-468E-C9FA-A5BA-BDCC91F97EEB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2529E2F-2B11-EF58-3E85-CCAD4C107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58A871D2-01AF-7835-00FF-B14F94B0D41C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7FCBE-62CC-9ADC-4CF2-B5E4B52B4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16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CCA92A-C0FE-6CFA-C4BA-E26DB5055F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5808" y="1606050"/>
            <a:ext cx="9260383" cy="468806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0F69F0-F7EC-B37E-9F7D-B5D7ACEC4452}"/>
              </a:ext>
            </a:extLst>
          </p:cNvPr>
          <p:cNvSpPr txBox="1"/>
          <p:nvPr/>
        </p:nvSpPr>
        <p:spPr>
          <a:xfrm>
            <a:off x="5027530" y="1174487"/>
            <a:ext cx="2136938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Expense Web-Page</a:t>
            </a:r>
          </a:p>
        </p:txBody>
      </p:sp>
    </p:spTree>
    <p:extLst>
      <p:ext uri="{BB962C8B-B14F-4D97-AF65-F5344CB8AC3E}">
        <p14:creationId xmlns:p14="http://schemas.microsoft.com/office/powerpoint/2010/main" val="2742470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EBF63-7275-28C3-1BC9-D59BC8973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E30D99E1-4A0C-54AA-E438-200BA368851C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370E7D53-6BF4-1F06-5A24-0B4FFE4472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D7C26AA-235A-3B03-45F0-C26E5FFFF5B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3E23C-9D56-71C4-8C8D-26256BCA5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17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85CD7B-8B07-ADD2-93B0-416B5FAD23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9723" y="1856502"/>
            <a:ext cx="10592554" cy="44687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2CEC891-758E-77FC-E39A-5673BE8D486B}"/>
              </a:ext>
            </a:extLst>
          </p:cNvPr>
          <p:cNvSpPr txBox="1"/>
          <p:nvPr/>
        </p:nvSpPr>
        <p:spPr>
          <a:xfrm>
            <a:off x="4916425" y="1440499"/>
            <a:ext cx="2359149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View Dashboard Page</a:t>
            </a:r>
          </a:p>
        </p:txBody>
      </p:sp>
    </p:spTree>
    <p:extLst>
      <p:ext uri="{BB962C8B-B14F-4D97-AF65-F5344CB8AC3E}">
        <p14:creationId xmlns:p14="http://schemas.microsoft.com/office/powerpoint/2010/main" val="32490592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C345E-DB57-BC39-73FB-590B31BC9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246CF5F-446B-4EBC-0856-E2019F980BF7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BFDD0667-C8C2-7273-0926-E89D76269B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11D1034-FF80-AC18-073B-C0A34099B9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3B698-5B7D-09C1-E277-ED64080CC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18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049E79-C2B4-451E-9FB0-1C4459AA6A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6037" y="1593410"/>
            <a:ext cx="9279925" cy="44485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DF582B6-7015-37A5-67CC-A3040412C454}"/>
              </a:ext>
            </a:extLst>
          </p:cNvPr>
          <p:cNvSpPr txBox="1"/>
          <p:nvPr/>
        </p:nvSpPr>
        <p:spPr>
          <a:xfrm>
            <a:off x="4978605" y="1161847"/>
            <a:ext cx="2234788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Dashboard Filter Tab</a:t>
            </a:r>
          </a:p>
        </p:txBody>
      </p:sp>
    </p:spTree>
    <p:extLst>
      <p:ext uri="{BB962C8B-B14F-4D97-AF65-F5344CB8AC3E}">
        <p14:creationId xmlns:p14="http://schemas.microsoft.com/office/powerpoint/2010/main" val="33701348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45F15-D8F9-F66F-5221-E797FC83B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675BDB9A-BCA6-6B81-9799-169D09DEF394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A8AFF7CA-5F24-926F-3FB4-FEC686D5D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9AF5B13B-0EAD-55E2-805D-334BAF2967F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9E09A-C178-D408-D820-5C81061D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19</a:t>
            </a:fld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E1795C-F940-CF35-9C06-4FD21EA1D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972" y="1998618"/>
            <a:ext cx="8984055" cy="42955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CC3691-1C22-D259-E013-1C078CC1350F}"/>
              </a:ext>
            </a:extLst>
          </p:cNvPr>
          <p:cNvSpPr txBox="1"/>
          <p:nvPr/>
        </p:nvSpPr>
        <p:spPr>
          <a:xfrm>
            <a:off x="4638273" y="1413506"/>
            <a:ext cx="2904744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Expense Visualization Page</a:t>
            </a:r>
          </a:p>
        </p:txBody>
      </p:sp>
    </p:spTree>
    <p:extLst>
      <p:ext uri="{BB962C8B-B14F-4D97-AF65-F5344CB8AC3E}">
        <p14:creationId xmlns:p14="http://schemas.microsoft.com/office/powerpoint/2010/main" val="36254210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05ACC-291E-3C2E-4C65-302EE1FFE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3739470-1646-A70A-944C-738F17121F83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2D7FEC8B-279E-A110-4439-FF7248B663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366121D-2FCC-FC6A-9F25-CAC5C1AFC022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F886A-15CD-5AC0-7F47-362EF6CC8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53E872-170E-06C6-7FA9-6BA386EE686A}"/>
              </a:ext>
            </a:extLst>
          </p:cNvPr>
          <p:cNvSpPr txBox="1"/>
          <p:nvPr/>
        </p:nvSpPr>
        <p:spPr>
          <a:xfrm>
            <a:off x="4992097" y="1252932"/>
            <a:ext cx="2197093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Docker Containers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4135B3-2C27-1CBE-EE6A-7AC0B5E9E7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534" y="1827247"/>
            <a:ext cx="10784217" cy="387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5765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8A8D9-EA77-D188-7E90-D63B32FE7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D2D89AD-5779-3966-8EE1-90E722C88ED0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015E9559-8FB6-2EA2-7884-AF962C4CF7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1AB586A-E713-E34A-A14E-700A5F16888A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FB7DE-DA33-F20C-88D2-A2E55251E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FB4FF1-E85E-E55B-C87C-DF5D230B80CD}"/>
              </a:ext>
            </a:extLst>
          </p:cNvPr>
          <p:cNvSpPr txBox="1"/>
          <p:nvPr/>
        </p:nvSpPr>
        <p:spPr>
          <a:xfrm>
            <a:off x="5049924" y="1223273"/>
            <a:ext cx="2092150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Azure Deployment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302619-C736-27E4-FAD6-F9A14A3C5C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379" y="1717065"/>
            <a:ext cx="9623241" cy="457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9916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7621D-B682-2E06-F670-CA0C4B602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AE201067-A387-EAD2-D7A4-D2BD0F0ADCFA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5B0752D-1CF0-CFC9-52F3-51DE0FA38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B1573BB7-1C83-6861-FE53-4C5AE24D8280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0178C-1B68-94C0-0202-EBAD8B6E2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7A1271-DE1F-4C16-C37F-31F656F48F6E}"/>
              </a:ext>
            </a:extLst>
          </p:cNvPr>
          <p:cNvSpPr txBox="1"/>
          <p:nvPr/>
        </p:nvSpPr>
        <p:spPr>
          <a:xfrm>
            <a:off x="5168967" y="822174"/>
            <a:ext cx="1775041" cy="369332"/>
          </a:xfrm>
          <a:prstGeom prst="rect">
            <a:avLst/>
          </a:prstGeom>
          <a:noFill/>
          <a:ln>
            <a:solidFill>
              <a:srgbClr val="0187CC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187CC"/>
                </a:solidFill>
              </a:rPr>
              <a:t>Azure Database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8215AAB-F154-A497-9C15-EDAB47CDA6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713" y="1309763"/>
            <a:ext cx="8275927" cy="5108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1346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2F14E-1D1C-A3AF-2A0D-6562E6DF7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61D69EE-DF93-DE1B-3562-E760CFFEF8D5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 Bold"/>
              </a:rPr>
              <a:t>Expense Tracker Application </a:t>
            </a: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40C76315-C74E-55C1-3F36-EEF96F4FDC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66D0DE7-7B17-617F-8EBD-4C9041E2F743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CC6D8-F868-CF94-A015-EE5316668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3B293B-0DB2-40AA-062B-D666CBC1E769}"/>
              </a:ext>
            </a:extLst>
          </p:cNvPr>
          <p:cNvSpPr txBox="1"/>
          <p:nvPr/>
        </p:nvSpPr>
        <p:spPr>
          <a:xfrm>
            <a:off x="273075" y="1064862"/>
            <a:ext cx="10215094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Conclusion 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This Expense Tracker Application is our full-stack web application that helps users track and manage expenses effectively.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It provides: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--Easy expense entry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--Categorization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--Reports and summaries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--Cloud deployment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At last our Capstone project demonstrates practical implementation of modern web technologies.</a:t>
            </a:r>
          </a:p>
        </p:txBody>
      </p:sp>
    </p:spTree>
    <p:extLst>
      <p:ext uri="{BB962C8B-B14F-4D97-AF65-F5344CB8AC3E}">
        <p14:creationId xmlns:p14="http://schemas.microsoft.com/office/powerpoint/2010/main" val="25917146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6445</TotalTime>
  <Words>1091</Words>
  <Application>Microsoft Office PowerPoint</Application>
  <PresentationFormat>Widescreen</PresentationFormat>
  <Paragraphs>292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Aptos</vt:lpstr>
      <vt:lpstr>Aptos Display</vt:lpstr>
      <vt:lpstr>Arial</vt:lpstr>
      <vt:lpstr>Calibri</vt:lpstr>
      <vt:lpstr>HK Grotesk</vt:lpstr>
      <vt:lpstr>HK Grotesk Bold</vt:lpstr>
      <vt:lpstr>HK Grotesk Light</vt:lpstr>
      <vt:lpstr>HK Grotesk Light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Satish M</dc:creator>
  <cp:lastModifiedBy>Het Raval</cp:lastModifiedBy>
  <cp:revision>21</cp:revision>
  <dcterms:created xsi:type="dcterms:W3CDTF">2024-05-04T13:11:57Z</dcterms:created>
  <dcterms:modified xsi:type="dcterms:W3CDTF">2026-02-09T11:02:08Z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